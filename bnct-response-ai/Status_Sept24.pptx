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0" r:id="rId4"/>
    <p:sldId id="257" r:id="rId5"/>
    <p:sldId id="258" r:id="rId6"/>
    <p:sldId id="263" r:id="rId7"/>
    <p:sldId id="262" r:id="rId8"/>
    <p:sldId id="264" r:id="rId9"/>
    <p:sldId id="265" r:id="rId10"/>
    <p:sldId id="266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10"/>
    <p:restoredTop sz="94545"/>
  </p:normalViewPr>
  <p:slideViewPr>
    <p:cSldViewPr snapToGrid="0">
      <p:cViewPr>
        <p:scale>
          <a:sx n="111" d="100"/>
          <a:sy n="111" d="100"/>
        </p:scale>
        <p:origin x="32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37DFF-6E84-4F11-D086-943C5E4EF5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26409-5877-68FF-DC1E-98E4D7AD02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13F0A-36C3-DB85-EF76-AE5A6264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1D44-7A0D-DF40-BFFD-29E66A57BB4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9A25C-4936-E370-DAF1-5F4787254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20BC4-A2C2-FB4D-3138-80E568E53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3D9-6C2D-F946-B71E-4FDB0D0C0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02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03BF0-5394-5DCB-2C49-F8777792A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A3D10-C0B8-C7FE-5023-CEAB9C6E6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B4C83-94CB-2E08-204B-E544C9839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1D44-7A0D-DF40-BFFD-29E66A57BB4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B6ED7-404C-E67C-F355-7B70C18E5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96E19-3E45-3F61-5264-36F6EA364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3D9-6C2D-F946-B71E-4FDB0D0C0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11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CC78D-1985-61C7-3659-806E6F829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91D84-CF96-824E-F80D-D5B44600C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58573-3F9B-07BF-772E-DF844FC1E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1D44-7A0D-DF40-BFFD-29E66A57BB4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D470-AFA0-2632-2FE6-F3329A3BC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FFF6B-079D-4F30-6E95-9B6131A31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3D9-6C2D-F946-B71E-4FDB0D0C0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022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4D910-1158-26AB-B46B-FDD30544F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59082-3CED-9B55-61DE-488F78E6F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FF16D9-CDEF-4135-307D-A7C34849A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2890B-55BC-8E65-B693-F78603C80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1D44-7A0D-DF40-BFFD-29E66A57BB4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EAA95-5A0E-B4D6-59A0-3CCE4E91C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18306-6E42-08D3-9266-B6FBB900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3D9-6C2D-F946-B71E-4FDB0D0C0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97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7B51B-BED0-07C1-4069-F962C2B61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DF159-0BE0-A665-65B8-0AB076E07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10750-3A11-D3FA-2EF5-8447B9251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02DFB6-E408-03E8-A231-46D5F6541F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978842-C1A9-CB30-9B6C-ABD5AC6575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F54EF7-D958-31FA-44C2-E4262D091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1D44-7A0D-DF40-BFFD-29E66A57BB4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5F6E97-97F7-5274-96C5-23ECF157B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8A54B2-54AF-E7AE-D965-B8A7CEBB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3D9-6C2D-F946-B71E-4FDB0D0C0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01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BBC5-0116-BF32-EA8B-1F57F1FA5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6F981-DA72-84E2-7CD0-32C1170EC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1D44-7A0D-DF40-BFFD-29E66A57BB4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B38F2-CAB9-5F53-AE52-F8169D6DD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C6997-1AF4-5F00-84A9-7E9E3E9C3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3D9-6C2D-F946-B71E-4FDB0D0C0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72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DC1412-6C45-4FDB-AC37-828A4AB3B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1D44-7A0D-DF40-BFFD-29E66A57BB4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913727-0E93-BA5D-A539-1563C79B8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0AA69-FE52-35D2-0F35-555AD551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3D9-6C2D-F946-B71E-4FDB0D0C0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89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7BB87-F4F3-4AF3-EB28-EF7ECA50E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BC50D-6235-8B87-4C26-C0FA0D93C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BCE307-3BD0-DC5C-6F6A-B9DC8E936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3CB76-142E-5BD9-5184-3D2A7BDE9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1D44-7A0D-DF40-BFFD-29E66A57BB4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84464-9B46-82F8-0C28-3B93CDA8D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5A484-BF28-A708-CD7D-2DA39EB70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3D9-6C2D-F946-B71E-4FDB0D0C0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35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32F50-0ED2-0D97-C0D8-2D1F5C55B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A2E93B-F762-DA48-3182-53862EDE08B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168F9-55B3-B457-5386-DDBBFEA85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C6A093-F7B4-9E16-C179-99986DE77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1D44-7A0D-DF40-BFFD-29E66A57BB4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17AD7-B27D-51B5-B085-B862554FF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7E912-4588-43B5-001F-5A65BDB66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3D9-6C2D-F946-B71E-4FDB0D0C0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27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B1927-BD5B-524F-FB47-87197C7D7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F64A3-8751-8E74-C977-C5000C8B5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2276A-3E71-50AA-ACA6-0428A478D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1D44-7A0D-DF40-BFFD-29E66A57BB4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29240-9833-F4BB-81E6-A7E707A15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B51E6-3CC9-B948-A566-4488A48A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3D9-6C2D-F946-B71E-4FDB0D0C0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65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A44D2C-C79E-7140-80BF-63422E6E5F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AF903C-AC3A-B1FF-2772-41376DDEF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79E80-2A15-0A21-5392-E2F41A1FC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1D44-7A0D-DF40-BFFD-29E66A57BB4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17D48-84F2-6E80-7715-92DD5574E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AC951-8DF8-88AE-78F2-6F3D3343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3D9-6C2D-F946-B71E-4FDB0D0C0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9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5BEE6A-519A-EB57-0C97-FA2931831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C2B57-0A6D-71AF-A1D8-F2A1734C4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98F25-8BBD-B56D-E65D-86BAD76471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F41D44-7A0D-DF40-BFFD-29E66A57BB4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E4BBF-004D-B0BF-71E7-F55A5FFB0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FF563-6CC3-E067-F579-6AA78D1BD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1073D9-6C2D-F946-B71E-4FDB0D0C0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3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48299-BA7F-F497-5E3A-02CA787A56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AI-BNCT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CD1A29-0190-5C57-89D6-5F79B3B3F6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Status update</a:t>
            </a:r>
          </a:p>
        </p:txBody>
      </p:sp>
    </p:spTree>
    <p:extLst>
      <p:ext uri="{BB962C8B-B14F-4D97-AF65-F5344CB8AC3E}">
        <p14:creationId xmlns:p14="http://schemas.microsoft.com/office/powerpoint/2010/main" val="96627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A6523-2585-E238-5ECC-42197B4FD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EC53B-CBAD-357C-B1A2-3D94849F8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“Use generative models to reproduce BNCT data and replace Geant4/Chemistry simulations”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Two possible targets:</a:t>
            </a:r>
          </a:p>
          <a:p>
            <a:pPr marL="0" indent="0">
              <a:buNone/>
            </a:pPr>
            <a:r>
              <a:rPr lang="en-US" dirty="0"/>
              <a:t>1. Predict damage directly from initial particle conditions (mainly geometry) – doable but probably not our goal</a:t>
            </a:r>
          </a:p>
          <a:p>
            <a:pPr marL="0" indent="0">
              <a:buNone/>
            </a:pPr>
            <a:r>
              <a:rPr lang="en-US" dirty="0"/>
              <a:t>2. Generate local transport first (Gen-AI), then predict damage</a:t>
            </a:r>
          </a:p>
          <a:p>
            <a:pPr lvl="2"/>
            <a:r>
              <a:rPr lang="en-US" dirty="0"/>
              <a:t>Use </a:t>
            </a:r>
            <a:r>
              <a:rPr lang="en-US" dirty="0" err="1"/>
              <a:t>StEG</a:t>
            </a:r>
            <a:r>
              <a:rPr lang="en-US" dirty="0"/>
              <a:t> to generate G4/G4-DNA output: e.g., tracking quantities, DNA damage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973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51A3-62F1-434C-E448-5D9C60150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the original data was difficult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325E7-5932-D7D1-12F4-99AFF149D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99689" cy="4185431"/>
          </a:xfrm>
        </p:spPr>
        <p:txBody>
          <a:bodyPr/>
          <a:lstStyle/>
          <a:p>
            <a:r>
              <a:rPr lang="en-US" dirty="0"/>
              <a:t>Tracking information was incomplete for non-damaging primaries (i.e. only positive cases available)</a:t>
            </a:r>
          </a:p>
          <a:p>
            <a:r>
              <a:rPr lang="en-US" dirty="0"/>
              <a:t>Geometry and response variables were mixed in the same generated feature set</a:t>
            </a:r>
          </a:p>
          <a:p>
            <a:r>
              <a:rPr lang="en-US" dirty="0"/>
              <a:t>The number of independent primaries was small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004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9E57D-5DCD-4E86-C06C-B8B026BB6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particle voxel approach (NEW)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97CCD-19E0-D11A-443A-E9AD656A2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Transport one alpha or lithium ion through a water voxel grid</a:t>
            </a:r>
          </a:p>
          <a:p>
            <a:r>
              <a:rPr lang="en-US" dirty="0"/>
              <a:t>Record the particle state whenever it enters a 300nm voxel</a:t>
            </a:r>
          </a:p>
          <a:p>
            <a:r>
              <a:rPr lang="en-US" dirty="0"/>
              <a:t>Replay each voxel entry in Geant4-DNA to calculate damage</a:t>
            </a:r>
          </a:p>
          <a:p>
            <a:r>
              <a:rPr lang="en-US" dirty="0"/>
              <a:t>Join local transport and DNA damage using event and voxel IDs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Target:</a:t>
            </a:r>
          </a:p>
          <a:p>
            <a:pPr marL="0" indent="0">
              <a:buNone/>
            </a:pPr>
            <a:r>
              <a:rPr lang="en-US" dirty="0"/>
              <a:t>- Particle + initial energy + direction + distance -&gt; local transport and damage per voxel</a:t>
            </a:r>
          </a:p>
          <a:p>
            <a:pPr marL="0" indent="0">
              <a:buNone/>
            </a:pPr>
            <a:r>
              <a:rPr lang="en-GB" dirty="0"/>
              <a:t>- Sample local transport and damage at a requested distance.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027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ABC8E-CBE1-0248-74F9-B21A40DBE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Multi-step baseline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C1754-2CB8-6013-2AE6-36BF9475B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558" y="1825625"/>
            <a:ext cx="875968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Before using generative models, use traditional ML models to obtain baseline results</a:t>
            </a:r>
          </a:p>
          <a:p>
            <a:endParaRPr lang="en-US" dirty="0"/>
          </a:p>
          <a:p>
            <a:r>
              <a:rPr lang="en-US" b="1" dirty="0"/>
              <a:t>Range models </a:t>
            </a:r>
            <a:r>
              <a:rPr lang="en-US" dirty="0"/>
              <a:t>– estimate maximum observed distance (regression)</a:t>
            </a:r>
          </a:p>
          <a:p>
            <a:r>
              <a:rPr lang="en-US" b="1" dirty="0"/>
              <a:t>Transport models </a:t>
            </a:r>
            <a:r>
              <a:rPr lang="en-US" dirty="0"/>
              <a:t>– estimate transport output per voxel (local energy, </a:t>
            </a:r>
            <a:r>
              <a:rPr lang="en-US" dirty="0" err="1"/>
              <a:t>eDep</a:t>
            </a:r>
            <a:r>
              <a:rPr lang="en-US" dirty="0"/>
              <a:t>, steps, track length, LET, …)</a:t>
            </a:r>
            <a:endParaRPr lang="en-US" b="1" dirty="0"/>
          </a:p>
          <a:p>
            <a:r>
              <a:rPr lang="en-US" b="1" dirty="0"/>
              <a:t>Damage models </a:t>
            </a:r>
            <a:r>
              <a:rPr lang="en-US" dirty="0"/>
              <a:t>– Estimate damage (SB, DSB, </a:t>
            </a:r>
            <a:r>
              <a:rPr lang="en-US" dirty="0" err="1"/>
              <a:t>cDSB</a:t>
            </a:r>
            <a:r>
              <a:rPr lang="en-US" dirty="0"/>
              <a:t>) probability per voxel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10E1D-3F73-B44F-9638-12FC0AAB5FE4}"/>
              </a:ext>
            </a:extLst>
          </p:cNvPr>
          <p:cNvSpPr txBox="1"/>
          <p:nvPr/>
        </p:nvSpPr>
        <p:spPr>
          <a:xfrm>
            <a:off x="9647583" y="2332383"/>
            <a:ext cx="219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conditions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D6F5F2-97CE-0976-3A54-9A8F2CE882B0}"/>
              </a:ext>
            </a:extLst>
          </p:cNvPr>
          <p:cNvSpPr txBox="1"/>
          <p:nvPr/>
        </p:nvSpPr>
        <p:spPr>
          <a:xfrm>
            <a:off x="9647583" y="3244334"/>
            <a:ext cx="219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Range check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A121F4-9CF7-3DCA-52A8-B0F54E000FF5}"/>
              </a:ext>
            </a:extLst>
          </p:cNvPr>
          <p:cNvSpPr txBox="1"/>
          <p:nvPr/>
        </p:nvSpPr>
        <p:spPr>
          <a:xfrm>
            <a:off x="9647583" y="4156285"/>
            <a:ext cx="219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 transport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44082C-C67E-9D75-272D-461D0913FB98}"/>
              </a:ext>
            </a:extLst>
          </p:cNvPr>
          <p:cNvSpPr txBox="1"/>
          <p:nvPr/>
        </p:nvSpPr>
        <p:spPr>
          <a:xfrm>
            <a:off x="9647583" y="5068236"/>
            <a:ext cx="2199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DNA damage in the voxel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B2D2E2D-684B-AB67-ACE6-6F0AAD36264A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0747513" y="2701715"/>
            <a:ext cx="0" cy="5426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FF73DB-8ECF-5BB3-D36E-2381D6F70661}"/>
              </a:ext>
            </a:extLst>
          </p:cNvPr>
          <p:cNvCxnSpPr/>
          <p:nvPr/>
        </p:nvCxnSpPr>
        <p:spPr>
          <a:xfrm>
            <a:off x="10721008" y="3613666"/>
            <a:ext cx="0" cy="5426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3118C1C-3F21-E932-E9F9-30FB1F52506E}"/>
              </a:ext>
            </a:extLst>
          </p:cNvPr>
          <p:cNvCxnSpPr/>
          <p:nvPr/>
        </p:nvCxnSpPr>
        <p:spPr>
          <a:xfrm>
            <a:off x="10694503" y="4525617"/>
            <a:ext cx="0" cy="5426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277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8A0FE-546A-DF97-AA31-AAEAA5C5D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Pilot dataset and models tested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20DCB-A017-2C7D-23F1-B4EBB0C66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Quick test. Currently have:</a:t>
            </a:r>
          </a:p>
          <a:p>
            <a:pPr lvl="1"/>
            <a:r>
              <a:rPr lang="en-US" dirty="0"/>
              <a:t>10,686 recorded hit voxels </a:t>
            </a:r>
          </a:p>
          <a:p>
            <a:pPr lvl="1"/>
            <a:r>
              <a:rPr lang="en-GB" dirty="0"/>
              <a:t>400 independent simulated primaries</a:t>
            </a:r>
          </a:p>
          <a:p>
            <a:pPr lvl="2"/>
            <a:r>
              <a:rPr lang="en-GB" dirty="0"/>
              <a:t> two alpha energies and two lithium energies</a:t>
            </a:r>
          </a:p>
          <a:p>
            <a:pPr lvl="1"/>
            <a:r>
              <a:rPr lang="en-US" dirty="0"/>
              <a:t>Train/test split are made by primary</a:t>
            </a:r>
          </a:p>
          <a:p>
            <a:pPr lvl="1"/>
            <a:r>
              <a:rPr lang="en-US" dirty="0"/>
              <a:t>Running more.</a:t>
            </a:r>
          </a:p>
          <a:p>
            <a:pPr marL="0" indent="0">
              <a:buNone/>
            </a:pPr>
            <a:r>
              <a:rPr lang="en-US" dirty="0"/>
              <a:t>Initial ML test results:</a:t>
            </a:r>
          </a:p>
          <a:p>
            <a:pPr lvl="1"/>
            <a:r>
              <a:rPr lang="en-GB" dirty="0"/>
              <a:t>Range: gradient-boosted quantile regression</a:t>
            </a:r>
          </a:p>
          <a:p>
            <a:pPr lvl="1"/>
            <a:r>
              <a:rPr lang="en-GB" dirty="0"/>
              <a:t>Transport: Extra Trees regression</a:t>
            </a:r>
          </a:p>
          <a:p>
            <a:pPr lvl="1"/>
            <a:r>
              <a:rPr lang="en-GB" dirty="0"/>
              <a:t> Damage: Extra Trees classification and count regression</a:t>
            </a:r>
          </a:p>
        </p:txBody>
      </p:sp>
    </p:spTree>
    <p:extLst>
      <p:ext uri="{BB962C8B-B14F-4D97-AF65-F5344CB8AC3E}">
        <p14:creationId xmlns:p14="http://schemas.microsoft.com/office/powerpoint/2010/main" val="2805841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17CB7-5308-C5AF-5C96-EE74AFDA9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results – Damage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D50CC2-876F-53D6-30F8-583B6B2AD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694" y="1309275"/>
            <a:ext cx="8607666" cy="51980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F36CD5-6CCB-F395-B0FD-98D86C433635}"/>
              </a:ext>
            </a:extLst>
          </p:cNvPr>
          <p:cNvSpPr txBox="1"/>
          <p:nvPr/>
        </p:nvSpPr>
        <p:spPr>
          <a:xfrm>
            <a:off x="9271322" y="3169645"/>
            <a:ext cx="25279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ranks damage risk reasonably well, but probabilities are too high and need calibration</a:t>
            </a:r>
          </a:p>
        </p:txBody>
      </p:sp>
    </p:spTree>
    <p:extLst>
      <p:ext uri="{BB962C8B-B14F-4D97-AF65-F5344CB8AC3E}">
        <p14:creationId xmlns:p14="http://schemas.microsoft.com/office/powerpoint/2010/main" val="2590614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D5C1-353E-5CC3-13CC-94F443197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results – Transport model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3513CD-A32E-CECA-55D9-65617EAF9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6390" y="1341664"/>
            <a:ext cx="8001478" cy="51512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21DB39-D691-BC8D-AA91-6BEF9B6D9453}"/>
              </a:ext>
            </a:extLst>
          </p:cNvPr>
          <p:cNvSpPr txBox="1"/>
          <p:nvPr/>
        </p:nvSpPr>
        <p:spPr>
          <a:xfrm>
            <a:off x="335666" y="1951672"/>
            <a:ext cx="31714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Energy is highly predictable; depositions and track structure fluctuate much more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801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9A5E1-887C-C66F-56E7-10D5F1CC1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results – Transport vs distance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0FACD1-E622-3794-0212-E70CC4734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80" y="1690688"/>
            <a:ext cx="9699885" cy="444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606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53578-E90E-A0F0-0AE7-D627D2541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Damage vs distance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18D5FE0-D0CE-FDE2-3D1A-5719E98515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4097" y="141798"/>
            <a:ext cx="5832635" cy="65744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F61B53-198A-9B95-35F4-762B0F8452FE}"/>
              </a:ext>
            </a:extLst>
          </p:cNvPr>
          <p:cNvSpPr txBox="1"/>
          <p:nvPr/>
        </p:nvSpPr>
        <p:spPr>
          <a:xfrm>
            <a:off x="639418" y="2527349"/>
            <a:ext cx="43964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GB" dirty="0">
                <a:latin typeface="+mn-lt"/>
              </a:rPr>
              <a:t>Black: Geant4-DNA observations</a:t>
            </a:r>
          </a:p>
          <a:p>
            <a:pPr rtl="0">
              <a:buNone/>
            </a:pPr>
            <a:r>
              <a:rPr lang="en-GB" dirty="0">
                <a:latin typeface="+mn-lt"/>
              </a:rPr>
              <a:t>Blue: direct-distance damage model</a:t>
            </a:r>
          </a:p>
          <a:p>
            <a:pPr rtl="0">
              <a:buNone/>
            </a:pPr>
            <a:r>
              <a:rPr lang="en-GB" dirty="0">
                <a:latin typeface="+mn-lt"/>
              </a:rPr>
              <a:t>Orange: damage model supplied with Geant4 local tracking</a:t>
            </a:r>
            <a:endParaRPr lang="en-GB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438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D1894-143F-09E7-76F8-B7F2A0401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step: conditional </a:t>
            </a:r>
            <a:r>
              <a:rPr lang="en-US" dirty="0" err="1"/>
              <a:t>StEG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1F321-0DBD-F8CA-8229-E3055A28E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Generate a distribution of local transport quantities at a requested distance</a:t>
            </a:r>
          </a:p>
          <a:p>
            <a:r>
              <a:rPr lang="en-GB" dirty="0"/>
              <a:t>Pass sampled transport states into the damage model</a:t>
            </a:r>
          </a:p>
          <a:p>
            <a:r>
              <a:rPr lang="en-GB" dirty="0"/>
              <a:t>Compare with the direct-distance baseline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Current status: training pipeline tested; generating more data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900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432</Words>
  <Application>Microsoft Macintosh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Office Theme</vt:lpstr>
      <vt:lpstr>AI-BNCT</vt:lpstr>
      <vt:lpstr>Original approach</vt:lpstr>
      <vt:lpstr>Why the original data was difficult</vt:lpstr>
      <vt:lpstr>Single particle voxel approach (NEW)</vt:lpstr>
      <vt:lpstr>Multi-step baseline models</vt:lpstr>
      <vt:lpstr>Pilot dataset and models tested</vt:lpstr>
      <vt:lpstr>Preliminary results – Damage model</vt:lpstr>
      <vt:lpstr>Preliminary results – Transport model</vt:lpstr>
      <vt:lpstr>Preliminary results – Transport vs distance</vt:lpstr>
      <vt:lpstr>Damage vs distance</vt:lpstr>
      <vt:lpstr>Next step: conditional StEG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Chiara De Sio</dc:creator>
  <cp:lastModifiedBy>Chiara De Sio</cp:lastModifiedBy>
  <cp:revision>13</cp:revision>
  <dcterms:created xsi:type="dcterms:W3CDTF">2026-09-24T09:06:47Z</dcterms:created>
  <dcterms:modified xsi:type="dcterms:W3CDTF">2026-09-24T09:59:23Z</dcterms:modified>
</cp:coreProperties>
</file>